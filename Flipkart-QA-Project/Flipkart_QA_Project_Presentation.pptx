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FFFFFF"/>
                </a:solidFill>
                <a:latin typeface="Calibri"/>
              </a:rPr>
              <a:t>Scenario Count by Module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Scenarios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Home</c:v>
                </c:pt>
                <c:pt idx="1">
                  <c:v>Search</c:v>
                </c:pt>
                <c:pt idx="2">
                  <c:v>Sort</c:v>
                </c:pt>
                <c:pt idx="3">
                  <c:v>Filters</c:v>
                </c:pt>
                <c:pt idx="4">
                  <c:v>Page</c:v>
                </c:pt>
                <c:pt idx="5">
                  <c:v>PDP</c:v>
                </c:pt>
                <c:pt idx="6">
                  <c:v>Cart</c:v>
                </c:pt>
                <c:pt idx="7">
                  <c:v>Login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  <c:pt idx="5">
                  <c:v>5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04832208"/>
        <c:axId val="1404831120"/>
      </c:barChart>
      <c:catAx>
        <c:axId val="140483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1404831120"/>
        <c:crosses val="autoZero"/>
        <c:auto val="1"/>
        <c:lblAlgn val="ctr"/>
        <c:lblOffset val="100"/>
        <c:noMultiLvlLbl val="1"/>
      </c:catAx>
      <c:valAx>
        <c:axId val="140483112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B4AA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1404832208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Calibri"/>
              </a:rPr>
              <a:t>Execution Outcome (27 Test Cases)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4CAF7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07979088"/>
        <c:axId val="1407978544"/>
      </c:barChart>
      <c:catAx>
        <c:axId val="1407979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1407978544"/>
        <c:crosses val="autoZero"/>
        <c:auto val="1"/>
        <c:lblAlgn val="ctr"/>
        <c:lblOffset val="100"/>
        <c:noMultiLvlLbl val="1"/>
      </c:catAx>
      <c:valAx>
        <c:axId val="140797854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B4AA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1407979088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53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2902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450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813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9566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220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1984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2926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9561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016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124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1944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44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7B258-33DF-4827-95C6-3B35ADAE728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3CD61-C894-4652-AC0D-A0274D96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4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>
              <a:gd name="adj" fmla="val 1067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3240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Flipkart QA Portfolio Project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Manual Testing, Automation, API Testing &amp; CI/CD for flipkart.com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sz="1200" dirty="0" err="1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Nishank</a:t>
            </a: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smtClean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Scope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A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7830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A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3649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200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 Framework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3649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200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API Testing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A3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823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6177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CI/CD with Jenkins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46177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A3A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7823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6177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Learnings &amp; Outcomes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full software testing lifecycle to a real, live e-commerce application: flipkart.com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manual testing, UI automation, API testing, and CI/CD in one cohesive, portfolio-grade deliverable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industry-standard practices: Page Object Model, data-driven testing, centralized logging/reporting, and pipeline automation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companion project to an existing SauceDemo QA portfolio submission, applying the same rigor to a real-world, unpredictable production site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82880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2A3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0956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at a Glance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514600"/>
            <a:ext cx="3429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doc + Test Plan (PDF)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test scenarios, 27 test cases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Defect reports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Selenium/TestNG automation suite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+ Postman API suite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+ this presentation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Deliberate Scope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2A3A8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3240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Guest-Only Flows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login is OTP-verified via a live mobile number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or faking OTP entry would be unreliable and dishonest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covers search, sort, filter, PDP, and cart as a guest — login coverage is limited to entry-form validation only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2A3A8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3240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 Uses DummyJSON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718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has no public test/sandbox API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DummyJSON's product catalog API stands in, modeling the same GET/POST/PUT/PATCH/DELETE methodology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is documented in the README rather than hidden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Under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nav, category menu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Valid/invalid/empty queries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popularity, newest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874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brand, rating, discount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navigation, filter persistence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40233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616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price, specs, CTA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0233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remove, totals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40233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5256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Entry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709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only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Out-of-Scope Boundaries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functional requirement areas mapped directly to the modules under test (RQ-01 through RQ-08)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written as behavior/structure assertions (e.g. "results reorder ascending") rather than fixed product data, since Flipkart's catalog changes constantly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scope: OTP/authenticated checkout, payment gateway, Seller Hub, and the native mobile 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4069080" cy="4206240"/>
          </a:xfrm>
          <a:prstGeom prst="roundRect">
            <a:avLst>
              <a:gd name="adj" fmla="val 1798"/>
            </a:avLst>
          </a:prstGeom>
          <a:solidFill>
            <a:srgbClr val="2A3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write it this way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606040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live production catalog means today's price is not tomorrow's. Requirements and assertions target behavior, not point-in-time data.”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 Summary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401568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Functional, API, Regression, Cross-browser, Exploratory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(primary), Firefox (smoke subset)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finalized, environment reachable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cases executed, no open High/Critical defects, CI 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Live-site DOM drift → mitigated via POM + explicit waits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Scenarios: 34 Scenarios Across 8 Modules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8308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Design (Sample)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108960"/>
        </p:xfrm>
        <a:graphic>
          <a:graphicData uri="http://schemas.openxmlformats.org/drawingml/2006/table">
            <a:tbl>
              <a:tblPr/>
              <a:tblGrid>
                <a:gridCol w="1280160"/>
                <a:gridCol w="3931920"/>
                <a:gridCol w="4572000"/>
                <a:gridCol w="1097280"/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by Price — Low to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display in non-decreasing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with special characters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shows a friendly no-results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filter (4★ &amp; above)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4★+ products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(preconditions, steps, test data, actual result) lives in 04_Test_Cases.xlsx — 27 cases total across all 8 modules.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 Summary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82880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2A3A8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2376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7033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failures traced to real defects (DEF-001, DEF-002)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blocked case due to intermittent filter rendering (DEF-003)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05_Execution_Report.xlsx, with a live pass-rate formula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MANUAL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Report Summary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9966960" cy="310896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  <a:gridCol w="1554480"/>
                <a:gridCol w="1097280"/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Special-char search shows generic error before no-results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 price briefly mismatches card price during flash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filter intermittently fails to render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defect includes steps to reproduce, expected vs. actual result, and a screenshot reference column pointing to 05-Supporting/screenshots/.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Testing — Used Transparently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(Claude) accelerated drafting: boilerplate POM/Maven/TestNG skeletons, documentation templates, and a representative set of manual test scenarios/cases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NOT used to fabricate execution evidence — screenshots of live tool runs (Jenkins, Postman, browser execution) were never faked; placeholder folders specify exactly what to capture instead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Live-site locators are flagged for human verification before reliance, since Flipkart ships no stable data-testid attributes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8308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test classes — 10 classes, 20+ scenarios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3240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517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5176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with PageFactory (@FindBy)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A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20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5204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Actions, Scroll, Alert, Excel, Screenshot, Config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3240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891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38912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logging + ExtentReports HTML report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A3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578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Layer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52578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+ WebDriverManager (Chrome/Firefox)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 &amp; Centralized Object Repository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 classes: HomePage, SearchResultsPage, ProductDetailPage, CartPage, LoginPage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locator declared with @FindBy and initialized via PageFactory.initElements() — no locator duplicated across test classes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locators (a specific sort label, a specific brand) stay as documented By lookups, since PageFactory fields can't be parameterized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drift point: if Flipkart changes a class name, exactly one file needs updating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4069080" cy="4206240"/>
          </a:xfrm>
          <a:prstGeom prst="roundRect">
            <a:avLst>
              <a:gd name="adj" fmla="val 1798"/>
            </a:avLst>
          </a:prstGeom>
          <a:solidFill>
            <a:srgbClr val="2A3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26680" y="2103120"/>
            <a:ext cx="3611880" cy="3566160"/>
          </a:xfrm>
          <a:prstGeom prst="rect">
            <a:avLst/>
          </a:prstGeom>
          <a:solidFill>
            <a:srgbClr val="16204F"/>
          </a:solidFill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@FindBy(css = "span.B_NuCI")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WebElement productTitle;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ProductDetailPage(WebDriver d)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this.driver = d;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PageFactory.initElements(d, this);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Utilities &amp;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config.properties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baseUrl, browser, headless flag, timeouts — read via ConfigReader, overridable with -D system properties in CI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file logging (logs/flipkart-automation.log) from BaseTest and the Extent listener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(reports/Flipkart_Automation_Report.html) with pass/fail status and embedded failure screenshots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(ExcelUtil)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617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SearchTestData.xlsx to drive the data-driven search test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Automation Concepts — Coverage Map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877056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windows / tabs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switchToNewTabIfOpened() in Cart/ProductDetail/Dropdown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/ event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utils/ActionsUtil.java — hover demo in NavigationTests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utils/ScrollUtil.java — JS executor, footer-visibility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/ warning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utils/AlertUtil.java — native confirm() dialog 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 + Select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ProductDetailPage.selectQuantityIfNativeDropdownPresent()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of 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List/HashSet/Collections.sort in DropdownAndCollectionsTests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 back to home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NavigationTests.navigateBackReturnsToHomepage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Testing with Apache POI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SearchTestData.xlsx holds keyword / expected-outcome / description rows — non-technical stakeholders can add a row without touching Java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ExcelUtil.readSheet() returns rows as String[] for a TestNG @DataProvider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method (searchBehaviorAcrossKeywords) runs once per row: valid keywords, multi-word keywords, nonsense keywords, and special characters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used for LoginTestData in the companion SauceDemo project — consistent framework convention across the portfolio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AUTOMATION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&amp; Reporting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test runs the full TestNG suite headless by default (config.properties), or headed with -Dheadless=false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test's pass/fail/skip status is logged to ExtentReports in real time via a global TestNG listener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automatically attaches a screenshot — both to the Extent HTML report and as a standalone .png under screenshots/failures/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writes a parallel timestamped log file for command-line debugging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API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Scope &amp; Rationale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has no public test/sandbox API — so this module targets DummyJSON's product catalog API, a free public REST API modeling the same shape of resource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same methodology a real Flipkart product/catalog API would require: status codes, schema validation, and CRUD semantics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documented plainly in 03-API-Testing/README.md, mirroring how the SauceDemo project used JSONPlaceholder for its own API module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API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Coverage — Postman + REST Assured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401568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5577840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/products, /products/{id}, /products/search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200/404 status, schema, pagination, search relevance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/products/add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status, echoed fields, generated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status, full-field update reflected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status, partial-field update reflected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status, isDeleted flag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API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Validation Approach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collection: environment variables ({{baseUrl}}), inline pm.test() assertions on status code and response body, importable + Newman-runnable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suite mirrors every Postman request as a Java test with RequestSpecBuilder for shared base URI/content-type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validate status codes, response schema/field values, and (for writes) that submitted fields are correctly echoed back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honestly framed as contract tests — DummyJSON simulates persistence, so tests check the response shape, not durability across a follow-up GET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CI/CD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900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3240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(Selenium/TestNG)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A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Assured)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0684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3240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9828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GitHub webhook (or SCM polling) on every push to main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Jenkinsfile lives at 04-CICD/Jenkinsfile, checked into the same repo it builds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results, the Extent HTML report, and Log4j logs are all archived as build artifacts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CI/CD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Stage Detail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502920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0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scm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clean test -Dheadless=true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XML, Extent HTML, logs, failure screenshots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7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clean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XML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C7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2976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tools required: JDK11 and Maven3 configured under Manage Jenkins → Tools, matching the names referenced in the Jenkinsfile's tools {} block. Full setup steps in 04-CICD/Jenkins_Setup_Guide.md.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Integration &amp; Repository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663440" cy="3749040"/>
          </a:xfrm>
          <a:prstGeom prst="rect">
            <a:avLst/>
          </a:prstGeom>
          <a:solidFill>
            <a:srgbClr val="16204F"/>
          </a:solidFill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Flipkart-QA-Project/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01-Manual-Testing/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02-Automation-Selenium-TestNG/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03-API-Testing/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04-CICD/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05-Supporting/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96596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→ add → commit → branch -M main → push — exact commands in the root README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 messages per logical change (docs, framework, API module, CI/CD)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job configured with “Pipeline script from SCM” pointing at 04-CICD/Jenkinsfile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Live-site volatility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site's DOM and prices change constantly — solved with POM isolation and relative (not fixed-value) assertions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OTP-gated auth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14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automated without a live phone — scoped out explicitly rather than faked or silently skipped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Flipkart API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substituting a real public API (DummyJSON) and disclosing it, instead of pretending access that doesn't exist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honesty &amp; completeness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 transparent, defensible submission over one that looks more complete than it is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3840480" cy="3840480"/>
          </a:xfrm>
          <a:prstGeom prst="ellipse">
            <a:avLst/>
          </a:prstGeom>
          <a:solidFill>
            <a:srgbClr val="32409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8555" y="1899139"/>
            <a:ext cx="10955214" cy="350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reports, and documentation: see the project README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QA Portfolio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1950</Words>
  <Application>Microsoft Office PowerPoint</Application>
  <PresentationFormat>Widescreen</PresentationFormat>
  <Paragraphs>362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2026-09-26T05:37:39Z</dcterms:created>
  <dcterms:modified xsi:type="dcterms:W3CDTF">2026-09-26T05:46:58Z</dcterms:modified>
</cp:coreProperties>
</file>